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DDBF7-F714-4F7B-9C4C-9E4EE9D1560B}" v="4" dt="2026-06-26T09:46:22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YUT BHARDWAZ" userId="45ab08401a6ea3d3" providerId="LiveId" clId="{376D2318-CFF6-405E-9978-EC24064B2DE1}"/>
    <pc:docChg chg="custSel addSld modSld">
      <pc:chgData name="ACHYUT BHARDWAZ" userId="45ab08401a6ea3d3" providerId="LiveId" clId="{376D2318-CFF6-405E-9978-EC24064B2DE1}" dt="2026-06-26T09:58:30.522" v="370" actId="12"/>
      <pc:docMkLst>
        <pc:docMk/>
      </pc:docMkLst>
      <pc:sldChg chg="addSp modSp mod">
        <pc:chgData name="ACHYUT BHARDWAZ" userId="45ab08401a6ea3d3" providerId="LiveId" clId="{376D2318-CFF6-405E-9978-EC24064B2DE1}" dt="2026-06-26T09:44:26.524" v="221" actId="14100"/>
        <pc:sldMkLst>
          <pc:docMk/>
          <pc:sldMk cId="3181803440" sldId="256"/>
        </pc:sldMkLst>
        <pc:spChg chg="mod">
          <ac:chgData name="ACHYUT BHARDWAZ" userId="45ab08401a6ea3d3" providerId="LiveId" clId="{376D2318-CFF6-405E-9978-EC24064B2DE1}" dt="2026-06-26T09:43:11.655" v="132" actId="1035"/>
          <ac:spMkLst>
            <pc:docMk/>
            <pc:sldMk cId="3181803440" sldId="256"/>
            <ac:spMk id="4" creationId="{2F74E306-1B48-08C8-138C-57B30DDAA98F}"/>
          </ac:spMkLst>
        </pc:spChg>
        <pc:spChg chg="add mod">
          <ac:chgData name="ACHYUT BHARDWAZ" userId="45ab08401a6ea3d3" providerId="LiveId" clId="{376D2318-CFF6-405E-9978-EC24064B2DE1}" dt="2026-06-26T09:44:26.524" v="221" actId="14100"/>
          <ac:spMkLst>
            <pc:docMk/>
            <pc:sldMk cId="3181803440" sldId="256"/>
            <ac:spMk id="5" creationId="{F93E81A9-87D9-1867-2D17-31F542018455}"/>
          </ac:spMkLst>
        </pc:spChg>
      </pc:sldChg>
      <pc:sldChg chg="modSp add mod">
        <pc:chgData name="ACHYUT BHARDWAZ" userId="45ab08401a6ea3d3" providerId="LiveId" clId="{376D2318-CFF6-405E-9978-EC24064B2DE1}" dt="2026-06-26T09:58:30.522" v="370" actId="12"/>
        <pc:sldMkLst>
          <pc:docMk/>
          <pc:sldMk cId="793640995" sldId="257"/>
        </pc:sldMkLst>
        <pc:spChg chg="mod">
          <ac:chgData name="ACHYUT BHARDWAZ" userId="45ab08401a6ea3d3" providerId="LiveId" clId="{376D2318-CFF6-405E-9978-EC24064B2DE1}" dt="2026-06-26T09:58:30.522" v="370" actId="12"/>
          <ac:spMkLst>
            <pc:docMk/>
            <pc:sldMk cId="793640995" sldId="257"/>
            <ac:spMk id="5" creationId="{080C2C6D-007E-9126-B7C6-3DF1813911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9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61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69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15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07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30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07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62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88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40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396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16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7118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730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851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499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56536-BE75-4D32-BFB2-EFC0AB64FED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4A3F80A-2A4D-4D3E-B37E-B9437E76A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49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4E306-1B48-08C8-138C-57B30DDAA98F}"/>
              </a:ext>
            </a:extLst>
          </p:cNvPr>
          <p:cNvSpPr txBox="1"/>
          <p:nvPr/>
        </p:nvSpPr>
        <p:spPr>
          <a:xfrm>
            <a:off x="1124756" y="112398"/>
            <a:ext cx="3476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Cloud Kitchen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E81A9-87D9-1867-2D17-31F542018455}"/>
              </a:ext>
            </a:extLst>
          </p:cNvPr>
          <p:cNvSpPr txBox="1"/>
          <p:nvPr/>
        </p:nvSpPr>
        <p:spPr>
          <a:xfrm>
            <a:off x="1124756" y="593727"/>
            <a:ext cx="7488000" cy="62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✅ Positive Insights</a:t>
            </a:r>
          </a:p>
          <a:p>
            <a:endParaRPr lang="en-IN" b="1" dirty="0"/>
          </a:p>
          <a:p>
            <a:r>
              <a:rPr lang="en-IN" b="1" dirty="0"/>
              <a:t>1. Pizza Brand is Kitchen’s Star Performer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CM% at </a:t>
            </a:r>
            <a:r>
              <a:rPr lang="en-IN" b="1" dirty="0"/>
              <a:t>17.65%</a:t>
            </a:r>
            <a:r>
              <a:rPr lang="en-IN" dirty="0"/>
              <a:t> across all brands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Consistent performance across all platforms (29%, 32%, 38%)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order volume too (8K)  so it's not just margin, it's scale</a:t>
            </a:r>
          </a:p>
          <a:p>
            <a:endParaRPr lang="en-IN" b="1" dirty="0"/>
          </a:p>
          <a:p>
            <a:r>
              <a:rPr lang="en-IN" b="1" dirty="0"/>
              <a:t>2. Healthy Bowl Brand is a Hidden Gem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Second highest CM% at </a:t>
            </a:r>
            <a:r>
              <a:rPr lang="en-IN" b="1" dirty="0"/>
              <a:t>14.51%</a:t>
            </a:r>
            <a:r>
              <a:rPr lang="en-IN" dirty="0"/>
              <a:t> despite lower order volume (5K)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Suggests lean food cost and strong pricing worth investing in</a:t>
            </a:r>
          </a:p>
          <a:p>
            <a:endParaRPr lang="en-IN" b="1" dirty="0"/>
          </a:p>
          <a:p>
            <a:r>
              <a:rPr lang="en-IN" b="1" dirty="0"/>
              <a:t>3. Brunch &amp; Lunch Slots are Most Profitable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Brunch: </a:t>
            </a:r>
            <a:r>
              <a:rPr lang="en-IN" b="1" dirty="0"/>
              <a:t>9.50%</a:t>
            </a:r>
            <a:r>
              <a:rPr lang="en-IN" dirty="0"/>
              <a:t> | Late Night: </a:t>
            </a:r>
            <a:r>
              <a:rPr lang="en-IN" b="1" dirty="0"/>
              <a:t>8.99%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slots likely have lower discounting or higher-margin orders</a:t>
            </a:r>
          </a:p>
          <a:p>
            <a:endParaRPr lang="en-IN" b="1" dirty="0"/>
          </a:p>
          <a:p>
            <a:r>
              <a:rPr lang="en-IN" b="1" dirty="0"/>
              <a:t>4. Zone A &amp; Zone B Dominate Volume AND Margin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zones have 13K+ orders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Zone A CM% is </a:t>
            </a:r>
            <a:r>
              <a:rPr lang="en-IN" b="1" dirty="0"/>
              <a:t>16.33%,</a:t>
            </a:r>
            <a:r>
              <a:rPr lang="en-IN" dirty="0"/>
              <a:t> best delivery geography</a:t>
            </a:r>
          </a:p>
          <a:p>
            <a:endParaRPr lang="en-IN" b="1" dirty="0"/>
          </a:p>
          <a:p>
            <a:r>
              <a:rPr lang="en-IN" b="1" dirty="0"/>
              <a:t>5. Weekend Orders are Strongest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Sunday &amp; Saturday both at </a:t>
            </a:r>
            <a:r>
              <a:rPr lang="en-IN" b="1" dirty="0"/>
              <a:t>0.14M</a:t>
            </a:r>
            <a:r>
              <a:rPr lang="en-IN" dirty="0"/>
              <a:t> CM, slightly ahead of weekdays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Good signal for weekend-specific promotions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80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7EE7-841C-56E7-A180-6A3C706B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578BF-BBAA-D067-FC91-D706CA2A8B70}"/>
              </a:ext>
            </a:extLst>
          </p:cNvPr>
          <p:cNvSpPr txBox="1"/>
          <p:nvPr/>
        </p:nvSpPr>
        <p:spPr>
          <a:xfrm>
            <a:off x="1124756" y="112398"/>
            <a:ext cx="3476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Cloud Kitchen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C2C6D-007E-9126-B7C6-3DF18139118C}"/>
              </a:ext>
            </a:extLst>
          </p:cNvPr>
          <p:cNvSpPr txBox="1"/>
          <p:nvPr/>
        </p:nvSpPr>
        <p:spPr>
          <a:xfrm>
            <a:off x="1124755" y="593727"/>
            <a:ext cx="973989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❌ Negative Insights</a:t>
            </a:r>
          </a:p>
          <a:p>
            <a:endParaRPr lang="en-IN" b="1" dirty="0"/>
          </a:p>
          <a:p>
            <a:r>
              <a:rPr lang="en-IN" b="1" dirty="0"/>
              <a:t>1. Burger Brand is Bleeding Money: Critical Issue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Overall CM% just </a:t>
            </a:r>
            <a:r>
              <a:rPr lang="en-IN" b="1" dirty="0"/>
              <a:t>0.20%,</a:t>
            </a:r>
            <a:r>
              <a:rPr lang="en-IN" dirty="0"/>
              <a:t> practically zero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Breakfast slot is actively </a:t>
            </a:r>
            <a:r>
              <a:rPr lang="en-IN" b="1" dirty="0"/>
              <a:t>loss-making at -21.30%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Commission Drain of </a:t>
            </a:r>
            <a:r>
              <a:rPr lang="en-IN" b="1" dirty="0"/>
              <a:t>2.16M</a:t>
            </a:r>
            <a:r>
              <a:rPr lang="en-IN" dirty="0"/>
              <a:t> is likely hitting Burger Brand hardest</a:t>
            </a:r>
          </a:p>
          <a:p>
            <a:endParaRPr lang="en-IN" b="1" dirty="0"/>
          </a:p>
          <a:p>
            <a:r>
              <a:rPr lang="en-IN" b="1" dirty="0"/>
              <a:t>2. Zone D and Zone E are Loss-Making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Zone D: </a:t>
            </a:r>
            <a:r>
              <a:rPr lang="en-IN" b="1" dirty="0"/>
              <a:t>-4.41%</a:t>
            </a:r>
            <a:r>
              <a:rPr lang="en-IN" dirty="0"/>
              <a:t> | Zone E: </a:t>
            </a:r>
            <a:r>
              <a:rPr lang="en-IN" b="1" dirty="0"/>
              <a:t>-12.33%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Either delivery costs are too high or discounting is aggressive in these zones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3. Food Cost at 70.09% is Dangerously High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Industry benchmark for cloud kitchens is ideally </a:t>
            </a:r>
            <a:r>
              <a:rPr lang="en-IN" b="1" dirty="0"/>
              <a:t>50-55%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is compressing overall CM to just </a:t>
            </a:r>
            <a:r>
              <a:rPr lang="en-IN" b="1" dirty="0"/>
              <a:t>8.65%</a:t>
            </a:r>
          </a:p>
          <a:p>
            <a:endParaRPr lang="en-IN" b="1" dirty="0"/>
          </a:p>
          <a:p>
            <a:r>
              <a:rPr lang="en-IN" b="1" dirty="0"/>
              <a:t>4. Total Discount of 1.64M is Hurting Bottom Line</a:t>
            </a:r>
            <a:endParaRPr lang="en-IN" dirty="0"/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Combined </a:t>
            </a:r>
            <a:r>
              <a:rPr lang="en-IN" dirty="0"/>
              <a:t>with 2.16M commission drain, Cloud Kitchen is losing </a:t>
            </a:r>
            <a:r>
              <a:rPr lang="en-IN" b="1" dirty="0"/>
              <a:t>3.80M</a:t>
            </a:r>
            <a:r>
              <a:rPr lang="en-IN" dirty="0"/>
              <a:t> in value leakage</a:t>
            </a:r>
          </a:p>
          <a:p>
            <a:endParaRPr lang="en-IN" b="1" dirty="0"/>
          </a:p>
          <a:p>
            <a:r>
              <a:rPr lang="en-IN" b="1" dirty="0"/>
              <a:t>5. Friday is Worst Day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Lowest CM contribution at </a:t>
            </a:r>
            <a:r>
              <a:rPr lang="en-IN" b="1" dirty="0"/>
              <a:t>0.10M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Could indicate low orders + high discounting on Fridays</a:t>
            </a:r>
          </a:p>
        </p:txBody>
      </p:sp>
    </p:spTree>
    <p:extLst>
      <p:ext uri="{BB962C8B-B14F-4D97-AF65-F5344CB8AC3E}">
        <p14:creationId xmlns:p14="http://schemas.microsoft.com/office/powerpoint/2010/main" val="7936409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314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ACHYUT BHARDWAZ</dc:creator>
  <cp:lastModifiedBy>ACHYUT BHARDWAZ</cp:lastModifiedBy>
  <cp:revision>1</cp:revision>
  <dcterms:created xsi:type="dcterms:W3CDTF">2026-06-26T09:29:13Z</dcterms:created>
  <dcterms:modified xsi:type="dcterms:W3CDTF">2026-06-26T09:58:31Z</dcterms:modified>
</cp:coreProperties>
</file>